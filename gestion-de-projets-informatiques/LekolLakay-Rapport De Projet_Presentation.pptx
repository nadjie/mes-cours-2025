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257" r:id="rId3"/>
    <p:sldId id="258" r:id="rId4"/>
    <p:sldId id="256" r:id="rId5"/>
    <p:sldId id="260" r:id="rId6"/>
    <p:sldId id="268" r:id="rId7"/>
    <p:sldId id="259" r:id="rId8"/>
    <p:sldId id="269" r:id="rId9"/>
    <p:sldId id="265" r:id="rId10"/>
    <p:sldId id="270" r:id="rId11"/>
    <p:sldId id="271" r:id="rId12"/>
    <p:sldId id="266" r:id="rId13"/>
    <p:sldId id="267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QLM4M9iTuUSNIfWDMPX2sZ9iG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3FDEE56-9E28-DED6-86C3-093BA09D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2D39FC5F-E74D-76D9-ADD3-07F5937B9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6C48008E-0322-D8AD-15C6-4A52349A2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5450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6736AD02-A39A-5A1F-7B64-2042EB7AD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45B56A65-8058-E983-A1F3-89F0FEE6F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5ECD16F8-219E-D44F-D014-A9ED129B4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7900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9998CB85-1DF2-66CF-FFDD-728B1AE4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>
            <a:extLst>
              <a:ext uri="{FF2B5EF4-FFF2-40B4-BE49-F238E27FC236}">
                <a16:creationId xmlns:a16="http://schemas.microsoft.com/office/drawing/2014/main" id="{37E86798-5E89-4079-E84A-15DEF98C8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p10:notes">
            <a:extLst>
              <a:ext uri="{FF2B5EF4-FFF2-40B4-BE49-F238E27FC236}">
                <a16:creationId xmlns:a16="http://schemas.microsoft.com/office/drawing/2014/main" id="{7B201CCF-3291-9B2B-1C69-E5E56109F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6834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DBEF2CAB-9169-7A35-4C68-FDE98F14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>
            <a:extLst>
              <a:ext uri="{FF2B5EF4-FFF2-40B4-BE49-F238E27FC236}">
                <a16:creationId xmlns:a16="http://schemas.microsoft.com/office/drawing/2014/main" id="{184582F1-6D15-BEEC-A3E8-051BEC2B4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>
            <a:extLst>
              <a:ext uri="{FF2B5EF4-FFF2-40B4-BE49-F238E27FC236}">
                <a16:creationId xmlns:a16="http://schemas.microsoft.com/office/drawing/2014/main" id="{179CD86A-0925-1190-C812-A88D325F4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0246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81bc4058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81bc4058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E08CA-3E3C-9975-E9B9-C1F493CA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BIENVENUE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C90F8-69CD-B709-28F8-B2121AD46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745743"/>
            <a:ext cx="5536001" cy="33077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2459880-826C-545B-47DD-79717FF51BDD}"/>
              </a:ext>
            </a:extLst>
          </p:cNvPr>
          <p:cNvSpPr txBox="1">
            <a:spLocks/>
          </p:cNvSpPr>
          <p:nvPr/>
        </p:nvSpPr>
        <p:spPr>
          <a:xfrm>
            <a:off x="1152653" y="3658452"/>
            <a:ext cx="4036334" cy="101063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 la présentation de la plateforme éducative </a:t>
            </a:r>
            <a:r>
              <a:rPr lang="fr-F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haitienne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76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 rot="10800000">
            <a:off x="-3291" y="3296652"/>
            <a:ext cx="12202113" cy="3561346"/>
          </a:xfrm>
          <a:custGeom>
            <a:avLst/>
            <a:gdLst/>
            <a:ahLst/>
            <a:cxnLst/>
            <a:rect l="l" t="t" r="r" b="b"/>
            <a:pathLst>
              <a:path w="12202113" h="3188466" extrusionOk="0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br>
              <a:rPr lang="en-US" b="1" dirty="0"/>
            </a:br>
            <a:r>
              <a:rPr lang="en-US" b="1" dirty="0"/>
              <a:t>INTRODUCTION</a:t>
            </a:r>
            <a:br>
              <a:rPr lang="en-US" sz="1800" dirty="0">
                <a:latin typeface="Arial"/>
                <a:ea typeface="Arial"/>
                <a:cs typeface="Arial"/>
                <a:sym typeface="Arial"/>
              </a:rPr>
            </a:br>
            <a:endParaRPr b="1" dirty="0"/>
          </a:p>
        </p:txBody>
      </p:sp>
      <p:pic>
        <p:nvPicPr>
          <p:cNvPr id="96" name="Google Shape;96;p2" descr="A blue and white rectangle with black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955" y="652439"/>
            <a:ext cx="9875259" cy="227130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5630779" y="3884452"/>
            <a:ext cx="5723021" cy="239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85% de Port-au-Prince occupé par des groupes armés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1 500 000 d’enfants sont déscolarisés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lay"/>
              <a:buNone/>
            </a:pPr>
            <a:r>
              <a:rPr lang="en-US" sz="5600" b="1"/>
              <a:t>L’</a:t>
            </a:r>
            <a:r>
              <a:rPr lang="en-US" sz="6000" b="1"/>
              <a:t> </a:t>
            </a:r>
            <a:r>
              <a:rPr lang="en-US" sz="5600" b="1"/>
              <a:t>ÉQUIPE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22965" y="554152"/>
            <a:ext cx="5742189" cy="574218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3" descr="A group of people holding a light bulb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-3" b="-3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 extrusionOk="0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1004956" y="703679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22753" y="1562696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6657715" y="2990818"/>
            <a:ext cx="4195673" cy="2913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Chardin DOLNE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Erick ST-FLEUR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Badio JEAN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Benchoud BERNARD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Stessie N. BLANCHARD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Richard AMAZAN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Levilson PALANQUET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Mineuse DURANDISSE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Sonieva O. ALPHONSE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Lans LABISSIERE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5454149" y="5775082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11586162" y="3619272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1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Play"/>
              <a:buNone/>
            </a:pPr>
            <a:r>
              <a:rPr lang="en-US" sz="4600" b="1"/>
              <a:t>LekolLakay</a:t>
            </a:r>
            <a:endParaRPr sz="4600" b="1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123497" y="4630583"/>
            <a:ext cx="53133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Un pont entre la salle de classe et le foyer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890338" y="4409267"/>
            <a:ext cx="3474720" cy="18288"/>
          </a:xfrm>
          <a:custGeom>
            <a:avLst/>
            <a:gdLst/>
            <a:ahLst/>
            <a:cxnLst/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 descr="A group of children in school uniform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6384" r="16663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 extrusionOk="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3049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>
          <a:blip r:embed="rId3"/>
          <a:srcRect l="3001" r="300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4415400" cy="1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b="1" dirty="0"/>
              <a:t>LA SOLUTION</a:t>
            </a:r>
            <a:endParaRPr dirty="0"/>
          </a:p>
        </p:txBody>
      </p:sp>
      <p:sp>
        <p:nvSpPr>
          <p:cNvPr id="141" name="Google Shape;141;p5"/>
          <p:cNvSpPr txBox="1">
            <a:spLocks noGrp="1"/>
          </p:cNvSpPr>
          <p:nvPr>
            <p:ph type="body" idx="1"/>
          </p:nvPr>
        </p:nvSpPr>
        <p:spPr>
          <a:xfrm>
            <a:off x="838200" y="2434201"/>
            <a:ext cx="3822189" cy="374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Apprentissage en ligne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Evaluation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Administration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Sécurité et Accessibilité</a:t>
            </a:r>
            <a:endParaRPr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A3EC6-9B0D-37C3-4619-EA8F4CA61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65" y="4818660"/>
            <a:ext cx="3360073" cy="1072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3BBF355-8139-F5A4-C15B-ECB446BB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>
            <a:extLst>
              <a:ext uri="{FF2B5EF4-FFF2-40B4-BE49-F238E27FC236}">
                <a16:creationId xmlns:a16="http://schemas.microsoft.com/office/drawing/2014/main" id="{39EA7A81-5E43-C6A2-0A90-BA98854FC470}"/>
              </a:ext>
            </a:extLst>
          </p:cNvPr>
          <p:cNvSpPr/>
          <p:nvPr/>
        </p:nvSpPr>
        <p:spPr>
          <a:xfrm>
            <a:off x="3049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>
            <a:extLst>
              <a:ext uri="{FF2B5EF4-FFF2-40B4-BE49-F238E27FC236}">
                <a16:creationId xmlns:a16="http://schemas.microsoft.com/office/drawing/2014/main" id="{B82F9E7D-D706-738A-3517-0F8C2786FB71}"/>
              </a:ext>
            </a:extLst>
          </p:cNvPr>
          <p:cNvPicPr preferRelativeResize="0"/>
          <p:nvPr/>
        </p:nvPicPr>
        <p:blipFill>
          <a:blip r:embed="rId3"/>
          <a:srcRect l="3001" r="300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>
            <a:extLst>
              <a:ext uri="{FF2B5EF4-FFF2-40B4-BE49-F238E27FC236}">
                <a16:creationId xmlns:a16="http://schemas.microsoft.com/office/drawing/2014/main" id="{66955B9C-88F3-2B24-000D-88826462D05F}"/>
              </a:ext>
            </a:extLst>
          </p:cNvPr>
          <p:cNvSpPr/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>
            <a:extLst>
              <a:ext uri="{FF2B5EF4-FFF2-40B4-BE49-F238E27FC236}">
                <a16:creationId xmlns:a16="http://schemas.microsoft.com/office/drawing/2014/main" id="{5E3CA1A1-AA88-CF6A-CD75-96DB473252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4415400" cy="1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b="1" dirty="0"/>
              <a:t>LA SOLUTION</a:t>
            </a:r>
            <a:endParaRPr dirty="0"/>
          </a:p>
        </p:txBody>
      </p:sp>
      <p:pic>
        <p:nvPicPr>
          <p:cNvPr id="6" name="Picture 5" descr="A colorful diagram with white text&#10;&#10;AI-generated content may be incorrect.">
            <a:extLst>
              <a:ext uri="{FF2B5EF4-FFF2-40B4-BE49-F238E27FC236}">
                <a16:creationId xmlns:a16="http://schemas.microsoft.com/office/drawing/2014/main" id="{DA3773EF-DF2B-B224-C888-D1EF367C6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94" y="1959130"/>
            <a:ext cx="4160318" cy="32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1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FFFF"/>
              </a:buClr>
              <a:buSzPts val="4000"/>
            </a:pPr>
            <a:r>
              <a:rPr lang="en-US" sz="4000" b="1" dirty="0">
                <a:solidFill>
                  <a:srgbClr val="FFFFFF"/>
                </a:solidFill>
              </a:rPr>
              <a:t>LE MARCH</a:t>
            </a:r>
            <a:r>
              <a:rPr lang="fr-FR" sz="4000" b="1" dirty="0">
                <a:solidFill>
                  <a:srgbClr val="FFFFFF"/>
                </a:solidFill>
              </a:rPr>
              <a:t>É</a:t>
            </a:r>
            <a:endParaRPr sz="4000" b="1" dirty="0">
              <a:solidFill>
                <a:srgbClr val="FFFFFF"/>
              </a:solidFill>
            </a:endParaRPr>
          </a:p>
        </p:txBody>
      </p:sp>
      <p:grpSp>
        <p:nvGrpSpPr>
          <p:cNvPr id="120" name="Google Shape;120;p4"/>
          <p:cNvGrpSpPr/>
          <p:nvPr/>
        </p:nvGrpSpPr>
        <p:grpSpPr>
          <a:xfrm>
            <a:off x="647257" y="3614270"/>
            <a:ext cx="10921425" cy="1692821"/>
            <a:chOff x="3201" y="998291"/>
            <a:chExt cx="10921425" cy="1692821"/>
          </a:xfrm>
        </p:grpSpPr>
        <p:sp>
          <p:nvSpPr>
            <p:cNvPr id="121" name="Google Shape;121;p4"/>
            <p:cNvSpPr/>
            <p:nvPr/>
          </p:nvSpPr>
          <p:spPr>
            <a:xfrm>
              <a:off x="3201" y="998291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rgbClr val="0B2741"/>
            </a:solidFill>
            <a:ln w="190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257188" y="1239579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89803"/>
              </a:schemeClr>
            </a:solidFill>
            <a:ln w="19050" cap="flat" cmpd="sng">
              <a:solidFill>
                <a:srgbClr val="0B27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299702" y="1282093"/>
              <a:ext cx="2200851" cy="1366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rPr lang="en-US" sz="23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Professeurs</a:t>
              </a:r>
              <a:endParaRPr dirty="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2797054" y="998291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rgbClr val="0B2741"/>
            </a:solidFill>
            <a:ln w="190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3051041" y="1239579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89803"/>
              </a:schemeClr>
            </a:solidFill>
            <a:ln w="19050" cap="flat" cmpd="sng">
              <a:solidFill>
                <a:srgbClr val="0B27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093555" y="1282093"/>
              <a:ext cx="2200851" cy="1366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rPr lang="en-US" sz="23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Eleves</a:t>
              </a:r>
              <a:endParaRPr dirty="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590907" y="998291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rgbClr val="0B2741"/>
            </a:solidFill>
            <a:ln w="190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844894" y="1239579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89803"/>
              </a:schemeClr>
            </a:solidFill>
            <a:ln w="19050" cap="flat" cmpd="sng">
              <a:solidFill>
                <a:srgbClr val="0B27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5887408" y="1282093"/>
              <a:ext cx="2200851" cy="1366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rPr lang="en-US" sz="2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Parents</a:t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8384760" y="998291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rgbClr val="0B2741"/>
            </a:solidFill>
            <a:ln w="190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8638747" y="1239579"/>
              <a:ext cx="2285879" cy="145153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89803"/>
              </a:schemeClr>
            </a:solidFill>
            <a:ln w="19050" cap="flat" cmpd="sng">
              <a:solidFill>
                <a:srgbClr val="0B27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8681261" y="1282093"/>
              <a:ext cx="2200851" cy="1366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rPr lang="en-US" sz="23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Responsables</a:t>
              </a:r>
              <a:r>
                <a:rPr lang="en-US" sz="23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3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Pedagogiques</a:t>
              </a:r>
              <a:endParaRPr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B262B84-1F11-A93A-CF98-09C3549C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A122AF68-50AB-BA7E-534E-10372CF40F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8CEDB807-07A5-5830-30F6-8419F40DABFC}"/>
              </a:ext>
            </a:extLst>
          </p:cNvPr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9AB37A42-CF76-4A9D-852B-53EE2DBF0EBF}"/>
              </a:ext>
            </a:extLst>
          </p:cNvPr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E1EA469-127A-11CF-76B4-A90FA4DEA126}"/>
              </a:ext>
            </a:extLst>
          </p:cNvPr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28455B01-D57C-369A-7C60-79FD6EC13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 b="1" dirty="0">
                <a:solidFill>
                  <a:srgbClr val="FFFFFF"/>
                </a:solidFill>
              </a:rPr>
              <a:t>LE MARCH</a:t>
            </a:r>
            <a:r>
              <a:rPr lang="fr-FR" sz="4000" b="1" dirty="0">
                <a:solidFill>
                  <a:srgbClr val="FFFFFF"/>
                </a:solidFill>
              </a:rPr>
              <a:t>É</a:t>
            </a:r>
            <a:endParaRPr dirty="0"/>
          </a:p>
        </p:txBody>
      </p:sp>
      <p:pic>
        <p:nvPicPr>
          <p:cNvPr id="2" name="Google Shape;165;p7" descr="A close up of a logo&#10;&#10;AI-generated content may be incorrect.">
            <a:extLst>
              <a:ext uri="{FF2B5EF4-FFF2-40B4-BE49-F238E27FC236}">
                <a16:creationId xmlns:a16="http://schemas.microsoft.com/office/drawing/2014/main" id="{70D7F711-D6E0-A5B1-7976-789746A068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4564" y="4092779"/>
            <a:ext cx="3268055" cy="66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67;p7" descr="A green and yellow rectangular sign with a white person in the middle&#10;&#10;AI-generated content may be incorrect.">
            <a:extLst>
              <a:ext uri="{FF2B5EF4-FFF2-40B4-BE49-F238E27FC236}">
                <a16:creationId xmlns:a16="http://schemas.microsoft.com/office/drawing/2014/main" id="{75C37D9E-86BF-5700-23E5-1C526FC745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8538" y="3403460"/>
            <a:ext cx="2144784" cy="20396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4889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7" name="Freeform: Shape 23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9" name="Freeform: Shape 238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Google Shape;228;p10"/>
          <p:cNvSpPr txBox="1">
            <a:spLocks noGrp="1"/>
          </p:cNvSpPr>
          <p:nvPr>
            <p:ph type="title"/>
          </p:nvPr>
        </p:nvSpPr>
        <p:spPr>
          <a:xfrm>
            <a:off x="477980" y="1122363"/>
            <a:ext cx="6537417" cy="32041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GESTION DE PROJET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7015397" y="4530035"/>
            <a:ext cx="3933306" cy="120814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AGILE / SCRUM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9" name="Google Shape;229;p10" descr="A blue and green arrows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tretch/>
        </p:blipFill>
        <p:spPr>
          <a:xfrm>
            <a:off x="6096000" y="2297591"/>
            <a:ext cx="5272490" cy="25753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3C6DB08C-A519-34F1-33BB-2965E174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83FD0B7D-4E29-A459-92E9-92ACB0E5D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7" name="Freeform: Shape 236">
            <a:extLst>
              <a:ext uri="{FF2B5EF4-FFF2-40B4-BE49-F238E27FC236}">
                <a16:creationId xmlns:a16="http://schemas.microsoft.com/office/drawing/2014/main" id="{8F928091-86A4-4599-EA07-B682D20B0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9" name="Freeform: Shape 238">
            <a:extLst>
              <a:ext uri="{FF2B5EF4-FFF2-40B4-BE49-F238E27FC236}">
                <a16:creationId xmlns:a16="http://schemas.microsoft.com/office/drawing/2014/main" id="{72F5F295-F667-247B-77A9-21B28D2B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Google Shape;228;p10">
            <a:extLst>
              <a:ext uri="{FF2B5EF4-FFF2-40B4-BE49-F238E27FC236}">
                <a16:creationId xmlns:a16="http://schemas.microsoft.com/office/drawing/2014/main" id="{DDBA0B74-8D58-6238-E8C4-2F73E1880D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3189" y="3429000"/>
            <a:ext cx="6537417" cy="32041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GESTION DE PROJET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9633B55A-7873-A1E6-E431-4B460AE89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040F91FD-7433-B238-CE01-577345A43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7CE702-6376-0EF6-1AD3-461CC4F5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4" y="884563"/>
            <a:ext cx="11439131" cy="46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2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90094A1C-A1B9-AEBF-C906-4147B606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>
            <a:extLst>
              <a:ext uri="{FF2B5EF4-FFF2-40B4-BE49-F238E27FC236}">
                <a16:creationId xmlns:a16="http://schemas.microsoft.com/office/drawing/2014/main" id="{E562E9DA-0C4E-10E2-67D3-546712158B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 dirty="0"/>
              <a:t>PR</a:t>
            </a:r>
            <a:r>
              <a:rPr lang="fr-FR" b="1" dirty="0"/>
              <a:t>É</a:t>
            </a:r>
            <a:r>
              <a:rPr lang="en-US" b="1" dirty="0"/>
              <a:t>SENTATION DU SPRINT 1 + DEMO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487004-D821-1CB3-8AF8-BEABFE0E7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513913"/>
              </p:ext>
            </p:extLst>
          </p:nvPr>
        </p:nvGraphicFramePr>
        <p:xfrm>
          <a:off x="1088896" y="1930192"/>
          <a:ext cx="9856472" cy="3812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637">
                  <a:extLst>
                    <a:ext uri="{9D8B030D-6E8A-4147-A177-3AD203B41FA5}">
                      <a16:colId xmlns:a16="http://schemas.microsoft.com/office/drawing/2014/main" val="1219503354"/>
                    </a:ext>
                  </a:extLst>
                </a:gridCol>
                <a:gridCol w="5862437">
                  <a:extLst>
                    <a:ext uri="{9D8B030D-6E8A-4147-A177-3AD203B41FA5}">
                      <a16:colId xmlns:a16="http://schemas.microsoft.com/office/drawing/2014/main" val="3867990197"/>
                    </a:ext>
                  </a:extLst>
                </a:gridCol>
                <a:gridCol w="1006154">
                  <a:extLst>
                    <a:ext uri="{9D8B030D-6E8A-4147-A177-3AD203B41FA5}">
                      <a16:colId xmlns:a16="http://schemas.microsoft.com/office/drawing/2014/main" val="2062500896"/>
                    </a:ext>
                  </a:extLst>
                </a:gridCol>
                <a:gridCol w="1501244">
                  <a:extLst>
                    <a:ext uri="{9D8B030D-6E8A-4147-A177-3AD203B41FA5}">
                      <a16:colId xmlns:a16="http://schemas.microsoft.com/office/drawing/2014/main" val="355793482"/>
                    </a:ext>
                  </a:extLst>
                </a:gridCol>
              </a:tblGrid>
              <a:tr h="953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Numéro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User Story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Priorité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Points d’histoires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888254439"/>
                  </a:ext>
                </a:extLst>
              </a:tr>
              <a:tr h="9530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LL12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En tant qu’administrateur scolaire, je veux créer et gérer les comptes utilisateurs pour donner accès à la plateforme selon les rôles.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5474823"/>
                  </a:ext>
                </a:extLst>
              </a:tr>
              <a:tr h="9530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LL13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En tant qu’administrateur, je veux créer des classes et des cours virtuels afin de structurer l’enseignement à distance.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47224582"/>
                  </a:ext>
                </a:extLst>
              </a:tr>
              <a:tr h="9530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LL14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En tant qu’utilisateur, je veux me connecter de manière sécurisée pour protéger mes informations personnelles.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91705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425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0" name="Rectangle 239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young girls in school uniforms&#10;&#10;AI-generated content may be incorrect.">
            <a:extLst>
              <a:ext uri="{FF2B5EF4-FFF2-40B4-BE49-F238E27FC236}">
                <a16:creationId xmlns:a16="http://schemas.microsoft.com/office/drawing/2014/main" id="{4028F801-56D7-CD72-57E7-F7A878715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7" r="19726"/>
          <a:stretch/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242" name="Freeform: Shape 241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4" name="Freeform: Shape 243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Google Shape;235;g3481bc4058d_0_1"/>
          <p:cNvSpPr txBox="1"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-15240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 txBox="1"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QUESTIONS </a:t>
            </a:r>
            <a:endParaRPr/>
          </a:p>
        </p:txBody>
      </p:sp>
      <p:pic>
        <p:nvPicPr>
          <p:cNvPr id="243" name="Google Shape;243;p11" descr="Question 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549" y="2776619"/>
            <a:ext cx="1289051" cy="128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 descr="Question mark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6607815" y="716407"/>
            <a:ext cx="5411343" cy="541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184</Words>
  <Application>Microsoft Office PowerPoint</Application>
  <PresentationFormat>Widescreen</PresentationFormat>
  <Paragraphs>53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Play</vt:lpstr>
      <vt:lpstr>Office Theme</vt:lpstr>
      <vt:lpstr>BIENVENUE</vt:lpstr>
      <vt:lpstr> INTRODUCTION </vt:lpstr>
      <vt:lpstr>L’ ÉQUIPE</vt:lpstr>
      <vt:lpstr>LekolLakay</vt:lpstr>
      <vt:lpstr>LA SOLUTION</vt:lpstr>
      <vt:lpstr>LA SOLUTION</vt:lpstr>
      <vt:lpstr>LE MARCHÉ</vt:lpstr>
      <vt:lpstr>LE MARCHÉ</vt:lpstr>
      <vt:lpstr>LA GESTION DE PROJET</vt:lpstr>
      <vt:lpstr>LA GESTION DE PROJET</vt:lpstr>
      <vt:lpstr>PRÉSENTATION DU SPRINT 1 + DEMO</vt:lpstr>
      <vt:lpstr>CONCLUSION</vt:lpstr>
      <vt:lpstr>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Levilson Palanquet</dc:creator>
  <cp:lastModifiedBy>Levilson Palanquet</cp:lastModifiedBy>
  <cp:revision>3</cp:revision>
  <dcterms:created xsi:type="dcterms:W3CDTF">2025-03-30T18:21:29Z</dcterms:created>
  <dcterms:modified xsi:type="dcterms:W3CDTF">2025-05-18T20:12:49Z</dcterms:modified>
</cp:coreProperties>
</file>